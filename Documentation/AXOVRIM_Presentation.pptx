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0e2a23f3-5584-5a9b-34ef-83db86ebebae}">
          <p14:sldIdLst>
            <p14:sldId id="256"/>
            <p14:sldId id="257"/>
          </p14:sldIdLst>
        </p14:section>
        <p14:section name="Background" id="{e9802a51-32f0-7051-4d52-196bb8e6f5f0}">
          <p14:sldIdLst>
            <p14:sldId id="258"/>
            <p14:sldId id="259"/>
            <p14:sldId id="260"/>
          </p14:sldIdLst>
        </p14:section>
        <p14:section name="Design" id="{885ae470-3dc4-db39-8cba-e5f9a87bc2af}">
          <p14:sldIdLst>
            <p14:sldId id="261"/>
            <p14:sldId id="262"/>
            <p14:sldId id="263"/>
            <p14:sldId id="264"/>
            <p14:sldId id="265"/>
          </p14:sldIdLst>
        </p14:section>
        <p14:section name="Build and Results" id="{0c1c2b46-3f7c-b055-e71e-4e569863f769}">
          <p14:sldIdLst>
            <p14:sldId id="266"/>
            <p14:sldId id="267"/>
            <p14:sldId id="268"/>
          </p14:sldIdLst>
        </p14:section>
        <p14:section name="Wrap-up" id="{8e07c67a-512b-2c6d-6627-4e521c85ebca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AXOVRIM: an AI-assisted toolkit quality inspection prototype combining tool recognition, Excel-driven inventory checks and RGB-D socket measurement. Mention team, institution and guide.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 the abstract. Stress that the value is structured and repeatable toolkit checking, not a claim of universal defect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five engineering challenges. The sequence-numbering and reference-assignment issues are the ones that most distinguish this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main technical objectives condensed from the report. Evaluation criteria: precision/recall, count agreement, socket-ID assignment, caliper-referenced OD error, inspection time and record integrity.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AXOVRIM against manual inspection and generic detectors. Be careful: the report does not claim superiority without controlled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key functions. Highlight the design rule that sequence IDs come from geometry, not from Excel matching. Scope: tool-and-socket inspection only, not general surface-defect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Eight layers from capture to persistence. Read left to right, then continue on the second row.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phases summarising the ten-step sequence in the report. Emphasise the safeguards: REVIEW is distinct from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classes of input: camera observations and editable reference workbooks. The report is explicit that a verified current-model training manifest was not supplied.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algorithm blocks. Mention that thresholds must be verified in the software and company reference rather than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dashboard and the two deployment targets. The .sh launcher is a launcher, not proof of a self-contained package, and cannot run the Windows EXE.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 from the application. Left: tool-count check and socket OD verification. Right: live camera view and socket analysis with S01 to S07 numbering. Note that the count table shows MISSING because only one small kit was in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transparent: these are software-assembly checks, not an industrial accuracy benchmark. The report image shows 2 toolkits and 14 sockets inspected in BATCH-001, mostly flagged REVIEW. Detection accuracy, measurement uncertainty and multi-device portability remain to be validated.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Treat AXOVRIM as a decision-support prototype. Retain original measurements, distinguish REVIEW from PASS, and check critical items manually when no reliable match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immediate milestone: validate the packaged EXE independently, test RealSense on representative hardware, verify calibration and collect quantitative results.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AXOVRIM  |  AI-Powered Toolkit Quality Inspection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AXOVRIM  |  AI-Powered Toolkit Quality Inspection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258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chemeClr val="bg1"/>
                </a:solidFill>
              </a:rPr>
              <a:t>AXOVRIM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AI-Powered Toolkit Quality Inspection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246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Computer Vision  •  RGB-D Metrology  •  Industrial Inspection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Smartlab students  |  Sanjivani University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bg1"/>
                </a:solidFill>
              </a:rPr>
              <a:t>Guide / Mentor: Dr. Arvind Mukundan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Project report dated 15 October 2026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0" y="3017520"/>
            <a:ext cx="5303520" cy="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675120" y="2743200"/>
            <a:ext cx="548640" cy="54864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23253" y="2891333"/>
            <a:ext cx="252374" cy="25237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39319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33488" y="2651760"/>
            <a:ext cx="731520" cy="73152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530998" y="2849270"/>
            <a:ext cx="336499" cy="33649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42048" y="3931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S02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74736" y="2560320"/>
            <a:ext cx="914400" cy="91440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21624" y="2807208"/>
            <a:ext cx="420624" cy="42062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83296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198864" y="2468880"/>
            <a:ext cx="1097280" cy="109728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95130" y="2765146"/>
            <a:ext cx="504749" cy="504749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07424" y="3931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405872" y="2377440"/>
            <a:ext cx="1280160" cy="1280160"/>
          </a:xfrm>
          <a:prstGeom prst="ellipse">
            <a:avLst/>
          </a:prstGeom>
          <a:solidFill>
            <a:schemeClr val="tx1"/>
          </a:solidFill>
          <a:ln w="38100">
            <a:solidFill>
              <a:schemeClr val="accent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51515" y="2723083"/>
            <a:ext cx="588874" cy="588874"/>
          </a:xfrm>
          <a:prstGeom prst="ellipse">
            <a:avLst/>
          </a:prstGeom>
          <a:solidFill>
            <a:schemeClr val="tx1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314432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675120" y="4434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Sockets numbered S01–SN along a PCA-ordered row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Project at a glance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tool categories detected by YOLO11-seg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6616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operator dashboard panels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editable Excel reference workbooks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463040"/>
            <a:ext cx="2560320" cy="173736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3544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S01–SN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235440" y="2423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spatial socket IDs along one row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11064240" cy="2606040"/>
          </a:xfrm>
          <a:prstGeom prst="roundRect">
            <a:avLst>
              <a:gd name="adj" fmla="val 2807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3703320"/>
            <a:ext cx="5943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Compares detected tool counts with company-defined quantities (Book1.xlsx)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Estimates socket outer diameters with an Intel RealSense RGB-D camera and checks them against Book2.xlsx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on a Raspberry Pi 5 station (.sh launcher) or a Windows laptop (AXOVRIM.exe)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Supervised decision support, not autonomous release authority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50024" y="3666744"/>
            <a:ext cx="4325112" cy="2324057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18" name="Image 0" descr="AXOVRIM main dash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3703320"/>
            <a:ext cx="4251960" cy="225090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206240" cy="4663440"/>
          </a:xfrm>
          <a:prstGeom prst="roundRect">
            <a:avLst>
              <a:gd name="adj" fmla="val 1739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000" b="1" dirty="0">
                <a:solidFill>
                  <a:schemeClr val="accent1"/>
                </a:solidFill>
              </a:rPr>
              <a:t>Core problem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Manual toolkit checks are slow, subjective and hard to trace. Build an operator-oriented system that identifies tools, compares quantities with company references, measures socket outer diameters and records outcomes.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Users: inspectors, maintenance staff, toolkit custodians and supervisors.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120640" y="1463040"/>
            <a:ext cx="6492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03520" y="1609344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0" y="1609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5544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Reflective metal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Highlights and noisy depth complicate rim extraction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14016"/>
            <a:ext cx="6492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303520" y="2560320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03520" y="2560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2505456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Detection order ≠ physical order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Raw instance IDs cannot label sockets sequentially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3364992"/>
            <a:ext cx="6492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03520" y="3511296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0" y="35112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456432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Multiple company references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Correct selection and live updates are required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20640" y="4315968"/>
            <a:ext cx="6492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4462272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4462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44074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Missing or displaced items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Reference-slot assignment becomes ambiguous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20640" y="5266944"/>
            <a:ext cx="6492240" cy="841248"/>
          </a:xfrm>
          <a:prstGeom prst="roundRect">
            <a:avLst>
              <a:gd name="adj" fmla="val 8696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03520" y="5413248"/>
            <a:ext cx="548640" cy="54864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5413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5358384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Deployable EXE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Must bundle AI libraries yet keep workbooks and reports writable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1737360" y="1600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Acquire RGB-D data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Synchronised colour and depth from an Intel RealSense camera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46520" y="164592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16002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 and segment tools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Classify items with the trained YOLO11-seg model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2004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1737360" y="3154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Verify inventory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Compare detected counts with Book1.xlsx company quantities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320040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31546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Measure socket OD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Extract rim geometry and estimate physical diameters from depth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548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4709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Number and verify sockets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Assign S01–SN by spatial order; compare with Book2.xlsx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0" y="4572000"/>
            <a:ext cx="539496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754880"/>
            <a:ext cx="914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7406640" y="4709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Decide, record, report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PASS / REVIEW / FAIL, Worker ID, history and reports on Pi 5 and laptop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Existing approaches and the gap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56692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Approach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Utility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Limitation here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Manual inspection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Simple, flexible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Operator dependent; little automatic traceability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Object detection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Class and count estimates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Bounding boxes are insufficient for rim metrology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Instance segmentation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Per-item masks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Masks may include body edges, not the true top rim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RGB-D sensing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Per-pixel depth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Specular metal and depth noise need calibration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Spreadsheet checks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Editable company rules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Reference quality and identity matching are critical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754880"/>
            <a:ext cx="11064240" cy="1371600"/>
          </a:xfrm>
          <a:prstGeom prst="roundRect">
            <a:avLst>
              <a:gd name="adj" fmla="val 533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Gap addressed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One operator interface that joins instance segmentation, geometric socket ordering, depth-assisted metrology and two independent company reference workflows. Comparative superiority still needs controlled testing.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Proposed system: key functions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Live RGB-D capture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Camera display and frame capture for analysis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YOLO11-seg detection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Instance masks for a 14-category toolkit class set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9164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317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Independent company selection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72491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Separate references for inventory and socket checks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9476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Guarded socket identification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280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Works without Excel; uncertainty is flagged, not hidden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29768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26280" y="379476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Reviewable decisions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8280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Automatic verdicts plus controlled manual status review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046720" y="3566160"/>
            <a:ext cx="356616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794760"/>
            <a:ext cx="502920" cy="502920"/>
          </a:xfrm>
          <a:prstGeom prst="ellipse">
            <a:avLst/>
          </a:prstGeom>
          <a:solidFill>
            <a:schemeClr val="accent2"/>
          </a:solidFill>
          <a:ln w="635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275320" y="3794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75320" y="44348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Records and reports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82803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Saved inspection data, toolkit and batch reports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5"/>
                </a:solidFill>
              </a:rPr>
              <a:t>Differentiator: geometric sequence identification is kept separate from spreadsheet matching, so observed sockets are never renumbered just to fit a reference.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System architecture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Capture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RealSense RGB + aligned depth, intrinsics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71800" y="251460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64592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288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Detection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6616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YOLO11-seg: classes, masks, confidence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806440" y="251460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64592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18288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Socket geometry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Rim centres and ellipse candidates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641080" y="251460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164592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35440" y="182880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354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18288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Metrology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9235440" y="24688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Calibrated depth gives physical OD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384048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" y="4023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Sequence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4663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PCA row order and S01–SN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971800" y="47091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383280" y="384048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6160" y="4023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56616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6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16052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Reference check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3566160" y="4663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Book1 counts and Book2 dimensions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806440" y="47091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217920" y="384048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7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Presentation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4663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Four dashboard panels and review actions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641080" y="4709160"/>
            <a:ext cx="36576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052560" y="3840480"/>
            <a:ext cx="2377440" cy="1737360"/>
          </a:xfrm>
          <a:prstGeom prst="roundRect">
            <a:avLst>
              <a:gd name="adj" fmla="val 421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35440" y="402336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3544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8</a:t>
            </a:r>
            <a:endParaRPr lang="en-US" sz="1500" dirty="0"/>
          </a:p>
        </p:txBody>
      </p:sp>
      <p:sp>
        <p:nvSpPr>
          <p:cNvPr id="47" name="Text 45"/>
          <p:cNvSpPr txBox="1"/>
          <p:nvPr/>
        </p:nvSpPr>
        <p:spPr>
          <a:xfrm>
            <a:off x="9829800" y="40233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Persistence</a:t>
            </a:r>
            <a:endParaRPr lang="en-US" sz="1700" dirty="0"/>
          </a:p>
        </p:txBody>
      </p:sp>
      <p:sp>
        <p:nvSpPr>
          <p:cNvPr id="48" name="Text 46"/>
          <p:cNvSpPr txBox="1"/>
          <p:nvPr/>
        </p:nvSpPr>
        <p:spPr>
          <a:xfrm>
            <a:off x="9235440" y="466344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Worker ID, records and reports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Logical architecture (schematic), not a hardware wiring diagram. The layers wrap from row one to row two.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Methodology: end-to-end workflow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94560" cy="82296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1  Set up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Register Worker ID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Load model and Excel references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2194560" cy="822960"/>
          </a:xfrm>
          <a:prstGeom prst="homePlat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92608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2  Capture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78892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Aligned RGB + depth frames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Platform calibration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0" y="1463040"/>
            <a:ext cx="2194560" cy="82296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6636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3  Detect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02920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6636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YOLO11-seg instances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Counts vs Book1 company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269480" y="1463040"/>
            <a:ext cx="2194560" cy="822960"/>
          </a:xfrm>
          <a:prstGeom prst="homePlate">
            <a:avLst/>
          </a:prstGeom>
          <a:solidFill>
            <a:schemeClr val="accent5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4  Measure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26948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Rim ellipse from masks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Depth gives physical OD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9509760" y="1463040"/>
            <a:ext cx="2194560" cy="822960"/>
          </a:xfrm>
          <a:prstGeom prst="homePlat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46920" y="1463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5  Review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9509760" y="2468880"/>
            <a:ext cx="210312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46920" y="2606040"/>
            <a:ext cx="1874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PCA order, S01–SN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Compare with Book2; save report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accent1"/>
                </a:solidFill>
              </a:rPr>
              <a:t>Decision safeguards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Invalid depth, an unreliable ellipse, an ambiguous endpoint, a missing item or an uncertain reference match is shown explicitly and never silently turned into PASS. Operator review is tracked while the raw measurement and automatic verdict stay traceable.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Input data and preparation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54864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Input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5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RGB frames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Detection masks, rim analysis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Aligned depth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Base plane, height, metric OD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Camera intrinsics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Back-projection to 3D geometry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Book1.xlsx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Expected tool counts per company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Book2.xlsx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Socket IDs, nominal sizes, reference ODs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Calibration files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Measurement setup geometry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0" y="1463040"/>
            <a:ext cx="5212080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629400" y="1645920"/>
            <a:ext cx="4754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Preparation steps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Fit a reference plane from about 30 empty-platform depth frames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Reject implausible depth; flag noisy points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Crop padded socket regions, blur and edge-filter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Fit and validate the top outer rim ellipse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Validate workbooks: blank IDs, duplicates, units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1206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Data note: archived experiment counts and benchmarks are not equated with the current model weights, and a verified dataset manifest should be audited before reporting split sizes.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Models and algorithms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YOLO11 instance segmentation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Per-instance masks, classes and confidence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Masks feed socket rim extraction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Loading a model is not evidence of accuracy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6916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RGB-D depth metrology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0175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Back-project pixel (u, v) at depth Z: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X = (u − cx)·Z / fx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Y = (v − cy)·Z / fy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Rim points give physical OD; unstable depth is flagged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463040"/>
            <a:ext cx="3566160" cy="416052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1691640"/>
            <a:ext cx="502920" cy="50292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53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75320" y="233172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PCA socket numbering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017520"/>
            <a:ext cx="3154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Project rim centres on the principal axis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Smaller reliable endpoint becomes S01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Not sorted globally by diameter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Ambiguous endpoint ⇒ review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Per socket: signed OD error = measured OD − reference OD. Acceptance thresholds come from the configured inspection rules.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Implementation and hardware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Four-panel operator interface (PyQt5)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12064" y="1837944"/>
            <a:ext cx="5833872" cy="3122766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5" name="Image 0" descr="Dashboard with report generation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5760720" cy="304961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983480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Dashboard with the batch report dialog open after saving an inspection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3949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Controls: Worker ID, Start Camera, Capture Analyze, Clear Results, Save Results, Generate Report, Engineering Settings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75120" y="1463040"/>
            <a:ext cx="4937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160020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Raspberry Pi 5 station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Attached screen and USB 3 RealSense camera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Existing Linux .sh launcher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Needs ARM64 PyTorch, PyQt5, Ultralytics, RealSense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6675120" y="3794760"/>
            <a:ext cx="4937760" cy="214884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903720" y="393192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Windows laptop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PyInstaller one-directory build: AXOVRIM.exe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Copy the whole folder, not the EXE alone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Workbooks and reports stay editable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Python (main.py), Ultralytics/PyTorch, OpenCV, openpyxl, RealSense SDK. Each platform needs its own validation.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 in action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12064" y="1380744"/>
            <a:ext cx="5925312" cy="225435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" name="Image 0" descr="Tool count verification pan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5852160" cy="2181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" y="3758184"/>
            <a:ext cx="5925312" cy="2288201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6" name="Image 1" descr="Socket dimensional verification pane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5852160" cy="221504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0533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Tool counts vs Book1 (REDAI); socket OD vs Book2 (Yash): PASS / REVIEW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775704" y="1380744"/>
            <a:ext cx="4873752" cy="4538826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9" name="Image 2" descr="Live camera and socket analysi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417320"/>
            <a:ext cx="4800600" cy="446567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812280" y="6053328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Live camera and segmented sockets labelled S01–S07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Results and evaluation status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12064" y="1335024"/>
            <a:ext cx="3248955" cy="4736592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6"/>
            </a:solidFill>
            <a:prstDash val="solid"/>
          </a:ln>
        </p:spPr>
      </p:sp>
      <p:pic>
        <p:nvPicPr>
          <p:cNvPr id="4" name="Image 0" descr="Generated worker batch inspection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175803" cy="4663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08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Generated worker batch report (PDF)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4114800" y="1371600"/>
            <a:ext cx="2468880" cy="3200400"/>
          </a:xfrm>
          <a:prstGeom prst="roundRect">
            <a:avLst>
              <a:gd name="adj" fmla="val 2963"/>
            </a:avLst>
          </a:prstGeom>
          <a:solidFill>
            <a:schemeClr val="tx1"/>
          </a:solidFill>
          <a:ln w="6350">
            <a:solidFill>
              <a:schemeClr val="tx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206240" y="16002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183</a:t>
            </a:r>
            <a:endParaRPr lang="en-US" sz="5600" dirty="0"/>
          </a:p>
        </p:txBody>
      </p:sp>
      <p:sp>
        <p:nvSpPr>
          <p:cNvPr id="8" name="Text 5"/>
          <p:cNvSpPr txBox="1"/>
          <p:nvPr/>
        </p:nvSpPr>
        <p:spPr>
          <a:xfrm>
            <a:off x="429768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regression tests passed, 3 skipped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297680" y="3566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developer-reported; re-verify on current release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371600"/>
          <a:ext cx="48463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1887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Area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Evidence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Status</a:t>
                      </a:r>
                      <a:endParaRPr lang="en-US" sz="15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EXE startup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Onedir build launched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Reported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Model + Excel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Loading checks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Reported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Socket order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PCA / endpoint tests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Tested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RealSense run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target-laptop trial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Pending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production benchmark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4"/>
                          </a:solidFill>
                        </a:rPr>
                        <a:t>Not set</a:t>
                      </a:r>
                      <a:endParaRPr lang="en-US" sz="1400" dirty="0"/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4114800" y="4754880"/>
            <a:ext cx="7498080" cy="13716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343400" y="4846320"/>
            <a:ext cx="7040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Recommended protocol: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labelled toolkits with caliper-traced ODs; report precision/recall, mean absolute OD error, repeatability across lighting and devices, and inspection time.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Advantages and limitations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Advantages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Counts and socket dimensions in one operator workflow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Editable company references, no hard-coded quantities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Spatial socket numbering separate from detection order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Worker-linked records and reviewable decisions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Pi 5 station and Windows laptop options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217920" y="1463040"/>
            <a:ext cx="5394960" cy="4663440"/>
          </a:xfrm>
          <a:prstGeom prst="roundRect">
            <a:avLst>
              <a:gd name="adj" fmla="val 156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4"/>
                </a:solidFill>
              </a:rPr>
              <a:t>Limitations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2194560"/>
            <a:ext cx="48463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Reflective metal gives unstable depth and rim edges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PCA ordering fits a single row, not grids or L-shapes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 missing socket can shift visible labels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OD alone cannot confirm drive condition or surface integrity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No verified accuracy or portability benchmark yet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Future scope and conclusion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202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Validate on a versioned, representative toolkit dataset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70048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6700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786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Quantify OD repeatability against traceable calipers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328416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28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23697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layout registration for missing slots and non-linear arrangements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986784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3986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89534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Improve robustness to reflections, lighting and occlusion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553712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Verify Pi 5 speed, power and RealSense; test the EXE separately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52120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supervisor workflows and signed report exports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0" y="1463040"/>
            <a:ext cx="5212080" cy="4663440"/>
          </a:xfrm>
          <a:prstGeom prst="roundRect">
            <a:avLst>
              <a:gd name="adj" fmla="val 156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173736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chemeClr val="accent1"/>
                </a:solidFill>
              </a:rPr>
              <a:t>Conclusion</a:t>
            </a:r>
            <a:endParaRPr lang="en-US" sz="18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chemeClr val="bg1"/>
                </a:solidFill>
              </a:rPr>
              <a:t>AXOVRIM shows a practical architecture that brings tool recognition, reference inventory checks and depth-assisted socket measurement into one inspection interface.</a:t>
            </a:r>
            <a:endParaRPr lang="en-US" sz="18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800" dirty="0">
                <a:solidFill>
                  <a:schemeClr val="accent6"/>
                </a:solidFill>
              </a:rPr>
              <a:t>Industrial-grade accuracy, precision and portability should be claimed only after comprehensive validation.</a:t>
            </a:r>
            <a:endParaRPr lang="en-US" sz="18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Thank you  |  Smartlab, Sanjivani University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XOVRIM Industrial">
  <a:themeElements>
    <a:clrScheme name="AXOVRIM Industrial">
      <a:dk1>
        <a:srgbClr val="16202B"/>
      </a:dk1>
      <a:lt1>
        <a:srgbClr val="FFFFFF"/>
      </a:lt1>
      <a:dk2>
        <a:srgbClr val="263545"/>
      </a:dk2>
      <a:lt2>
        <a:srgbClr val="EDF0F4"/>
      </a:lt2>
      <a:accent1>
        <a:srgbClr val="F2A33A"/>
      </a:accent1>
      <a:accent2>
        <a:srgbClr val="2A9D8F"/>
      </a:accent2>
      <a:accent3>
        <a:srgbClr val="5B7083"/>
      </a:accent3>
      <a:accent4>
        <a:srgbClr val="D1495B"/>
      </a:accent4>
      <a:accent5>
        <a:srgbClr val="3D5A80"/>
      </a:accent5>
      <a:accent6>
        <a:srgbClr val="9FB0C0"/>
      </a:accent6>
      <a:hlink>
        <a:srgbClr val="2A9D8F"/>
      </a:hlink>
      <a:folHlink>
        <a:srgbClr val="5B7083"/>
      </a:folHlink>
    </a:clrScheme>
    <a:fontScheme name="AXOVRIM Industri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AXOVRIM — AI-Powered Toolkit Quality Inspection</dc:title>
  <dc:subject>PptxGenJS Presentation</dc:subject>
  <dc:creator>Smartlab students, Sanjivani University</dc:creator>
  <cp:lastModifiedBy>Smartlab students, Sanjivani University</cp:lastModifiedBy>
  <cp:revision>1</cp:revision>
  <dcterms:created xsi:type="dcterms:W3CDTF">2026-10-18T06:50:52Z</dcterms:created>
  <dcterms:modified xsi:type="dcterms:W3CDTF">2026-10-18T06:50:52Z</dcterms:modified>
</cp:coreProperties>
</file>